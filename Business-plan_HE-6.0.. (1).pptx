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801600" cy="9601200" type="A3"/>
  <p:notesSz cx="12801600" cy="9601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4" d="100"/>
          <a:sy n="84" d="100"/>
        </p:scale>
        <p:origin x="143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0120" y="2976372"/>
            <a:ext cx="10881360" cy="20162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20240" y="5376672"/>
            <a:ext cx="8961120" cy="240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0080" y="2208276"/>
            <a:ext cx="5568696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92824" y="2208276"/>
            <a:ext cx="5568696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275" y="284926"/>
            <a:ext cx="5857240" cy="1207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0080" y="2208276"/>
            <a:ext cx="11521440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52544" y="8929116"/>
            <a:ext cx="4096512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40080" y="8929116"/>
            <a:ext cx="2944368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17152" y="8929116"/>
            <a:ext cx="2944368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dgs.un.org/goal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73412" y="2414462"/>
            <a:ext cx="11819255" cy="529590"/>
          </a:xfrm>
          <a:custGeom>
            <a:avLst/>
            <a:gdLst/>
            <a:ahLst/>
            <a:cxnLst/>
            <a:rect l="l" t="t" r="r" b="b"/>
            <a:pathLst>
              <a:path w="11819255" h="529589">
                <a:moveTo>
                  <a:pt x="0" y="12"/>
                </a:moveTo>
                <a:lnTo>
                  <a:pt x="5892899" y="12"/>
                </a:lnTo>
                <a:lnTo>
                  <a:pt x="5892899" y="520512"/>
                </a:lnTo>
                <a:lnTo>
                  <a:pt x="0" y="520512"/>
                </a:lnTo>
                <a:lnTo>
                  <a:pt x="0" y="12"/>
                </a:lnTo>
                <a:close/>
              </a:path>
              <a:path w="11819255" h="529589">
                <a:moveTo>
                  <a:pt x="5925762" y="0"/>
                </a:moveTo>
                <a:lnTo>
                  <a:pt x="11818662" y="0"/>
                </a:lnTo>
                <a:lnTo>
                  <a:pt x="11818662" y="529499"/>
                </a:lnTo>
                <a:lnTo>
                  <a:pt x="5925762" y="529499"/>
                </a:lnTo>
                <a:lnTo>
                  <a:pt x="5925762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370724" y="3053850"/>
            <a:ext cx="5895975" cy="3094990"/>
          </a:xfrm>
          <a:custGeom>
            <a:avLst/>
            <a:gdLst/>
            <a:ahLst/>
            <a:cxnLst/>
            <a:rect l="l" t="t" r="r" b="b"/>
            <a:pathLst>
              <a:path w="5895975" h="3094990">
                <a:moveTo>
                  <a:pt x="2699" y="0"/>
                </a:moveTo>
                <a:lnTo>
                  <a:pt x="5895599" y="0"/>
                </a:lnTo>
                <a:lnTo>
                  <a:pt x="5895599" y="2550899"/>
                </a:lnTo>
                <a:lnTo>
                  <a:pt x="2699" y="2550899"/>
                </a:lnTo>
                <a:lnTo>
                  <a:pt x="2699" y="0"/>
                </a:lnTo>
                <a:close/>
              </a:path>
              <a:path w="5895975" h="3094990">
                <a:moveTo>
                  <a:pt x="0" y="2574367"/>
                </a:moveTo>
                <a:lnTo>
                  <a:pt x="3896399" y="2574367"/>
                </a:lnTo>
                <a:lnTo>
                  <a:pt x="3896399" y="3094867"/>
                </a:lnTo>
                <a:lnTo>
                  <a:pt x="0" y="3094867"/>
                </a:lnTo>
                <a:lnTo>
                  <a:pt x="0" y="2574367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443749" y="5641425"/>
            <a:ext cx="2739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3.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OBJECTIVES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00125" y="5623717"/>
            <a:ext cx="3896995" cy="529590"/>
          </a:xfrm>
          <a:custGeom>
            <a:avLst/>
            <a:gdLst/>
            <a:ahLst/>
            <a:cxnLst/>
            <a:rect l="l" t="t" r="r" b="b"/>
            <a:pathLst>
              <a:path w="3896995" h="529589">
                <a:moveTo>
                  <a:pt x="0" y="0"/>
                </a:moveTo>
                <a:lnTo>
                  <a:pt x="3896399" y="0"/>
                </a:lnTo>
                <a:lnTo>
                  <a:pt x="3896399" y="529499"/>
                </a:lnTo>
                <a:lnTo>
                  <a:pt x="0" y="5294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4373150" y="5636926"/>
            <a:ext cx="10363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4.</a:t>
            </a:r>
            <a:r>
              <a:rPr sz="2400" spc="-10" dirty="0">
                <a:latin typeface="Calibri"/>
                <a:cs typeface="Calibri"/>
              </a:rPr>
              <a:t> PRICE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3125" y="6259800"/>
            <a:ext cx="3896995" cy="2259593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Monetization</a:t>
            </a:r>
            <a:br>
              <a:rPr lang="ro-RO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</a:br>
            <a:r>
              <a:rPr lang="en-US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-a</a:t>
            </a:r>
            <a:r>
              <a:rPr lang="ro-RO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ds, paid accounts</a:t>
            </a:r>
            <a:r>
              <a:rPr lang="en-US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,donations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-advanced certified courses ; professional advancement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-”premium” profiles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-corporate and institutional partnerships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29524" y="5628217"/>
            <a:ext cx="3896995" cy="520700"/>
          </a:xfrm>
          <a:custGeom>
            <a:avLst/>
            <a:gdLst/>
            <a:ahLst/>
            <a:cxnLst/>
            <a:rect l="l" t="t" r="r" b="b"/>
            <a:pathLst>
              <a:path w="3896995" h="520700">
                <a:moveTo>
                  <a:pt x="0" y="0"/>
                </a:moveTo>
                <a:lnTo>
                  <a:pt x="3896399" y="0"/>
                </a:lnTo>
                <a:lnTo>
                  <a:pt x="3896399" y="520499"/>
                </a:lnTo>
                <a:lnTo>
                  <a:pt x="0" y="5204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8302549" y="5641425"/>
            <a:ext cx="1905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5.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PROMOTION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15249" y="6827605"/>
            <a:ext cx="23177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2400" spc="-25" dirty="0">
                <a:latin typeface="Calibri"/>
                <a:cs typeface="Calibri"/>
              </a:rPr>
              <a:t>5.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95524" y="6259924"/>
            <a:ext cx="3896995" cy="3113405"/>
          </a:xfrm>
          <a:custGeom>
            <a:avLst/>
            <a:gdLst/>
            <a:ahLst/>
            <a:cxnLst/>
            <a:rect l="l" t="t" r="r" b="b"/>
            <a:pathLst>
              <a:path w="3896995" h="3113404">
                <a:moveTo>
                  <a:pt x="3896399" y="3112799"/>
                </a:moveTo>
                <a:lnTo>
                  <a:pt x="0" y="3112799"/>
                </a:lnTo>
                <a:lnTo>
                  <a:pt x="0" y="0"/>
                </a:lnTo>
                <a:lnTo>
                  <a:pt x="3896399" y="0"/>
                </a:lnTo>
                <a:lnTo>
                  <a:pt x="3896399" y="3112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8295524" y="6259924"/>
            <a:ext cx="3896995" cy="1644040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85725" algn="just">
              <a:lnSpc>
                <a:spcPct val="100000"/>
              </a:lnSpc>
              <a:spcBef>
                <a:spcPts val="220"/>
              </a:spcBef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-social media</a:t>
            </a:r>
          </a:p>
          <a:p>
            <a:pPr marL="85725" algn="just">
              <a:lnSpc>
                <a:spcPct val="100000"/>
              </a:lnSpc>
              <a:spcBef>
                <a:spcPts val="220"/>
              </a:spcBef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-strategic partnerships-networking</a:t>
            </a:r>
          </a:p>
          <a:p>
            <a:pPr marL="85725" algn="just">
              <a:lnSpc>
                <a:spcPct val="100000"/>
              </a:lnSpc>
              <a:spcBef>
                <a:spcPts val="220"/>
              </a:spcBef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-content-drive</a:t>
            </a:r>
            <a:r>
              <a:rPr lang="ro-RO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promotion-level based</a:t>
            </a:r>
          </a:p>
          <a:p>
            <a:pPr marL="85725" algn="just">
              <a:lnSpc>
                <a:spcPct val="100000"/>
              </a:lnSpc>
              <a:spcBef>
                <a:spcPts val="220"/>
              </a:spcBef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-forms,</a:t>
            </a:r>
            <a:r>
              <a:rPr lang="ro-RO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polls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27961" y="192095"/>
            <a:ext cx="5857240" cy="1410643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00"/>
              </a:spcBef>
            </a:pPr>
            <a:r>
              <a:rPr sz="2400" dirty="0">
                <a:latin typeface="Calibri"/>
                <a:cs typeface="Calibri"/>
              </a:rPr>
              <a:t>IDEA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SHORT:</a:t>
            </a:r>
            <a:br>
              <a:rPr lang="ro-RO" sz="2400" spc="-10" dirty="0">
                <a:latin typeface="Calibri"/>
                <a:cs typeface="Calibri"/>
              </a:rPr>
            </a:br>
            <a:r>
              <a:rPr lang="en-US" sz="2400" spc="-10" dirty="0">
                <a:latin typeface="Calibri"/>
                <a:cs typeface="Calibri"/>
              </a:rPr>
              <a:t>-</a:t>
            </a:r>
            <a:r>
              <a:rPr lang="ro-RO" spc="-10" dirty="0">
                <a:latin typeface="Calibri"/>
                <a:cs typeface="Calibri"/>
              </a:rPr>
              <a:t>connects deaf people with volunteering interpreters, and offers educational support to aspiring sign-language translators. 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0724" y="1611287"/>
            <a:ext cx="11821795" cy="684530"/>
          </a:xfrm>
          <a:custGeom>
            <a:avLst/>
            <a:gdLst/>
            <a:ahLst/>
            <a:cxnLst/>
            <a:rect l="l" t="t" r="r" b="b"/>
            <a:pathLst>
              <a:path w="11821795" h="684530">
                <a:moveTo>
                  <a:pt x="0" y="0"/>
                </a:moveTo>
                <a:lnTo>
                  <a:pt x="11821199" y="0"/>
                </a:lnTo>
                <a:lnTo>
                  <a:pt x="11821199" y="684299"/>
                </a:lnTo>
                <a:lnTo>
                  <a:pt x="0" y="6842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2858" y="1592132"/>
            <a:ext cx="11090111" cy="12798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1615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Cambria"/>
                <a:cs typeface="Cambria"/>
              </a:rPr>
              <a:t>Hardcore</a:t>
            </a:r>
            <a:r>
              <a:rPr sz="4000" b="1" spc="-60" dirty="0">
                <a:latin typeface="Cambria"/>
                <a:cs typeface="Cambria"/>
              </a:rPr>
              <a:t> </a:t>
            </a:r>
            <a:r>
              <a:rPr lang="en-US" sz="4000" b="1" spc="-60" dirty="0">
                <a:solidFill>
                  <a:srgbClr val="F13662"/>
                </a:solidFill>
                <a:latin typeface="Arial MT"/>
                <a:cs typeface="Cambria"/>
              </a:rPr>
              <a:t>Entrepreneur</a:t>
            </a:r>
            <a:r>
              <a:rPr sz="4000" spc="-130" dirty="0">
                <a:solidFill>
                  <a:srgbClr val="F13662"/>
                </a:solidFill>
                <a:latin typeface="Arial MT"/>
                <a:cs typeface="Arial MT"/>
              </a:rPr>
              <a:t> </a:t>
            </a:r>
            <a:r>
              <a:rPr sz="4000" b="1" dirty="0">
                <a:latin typeface="Cambria"/>
                <a:cs typeface="Cambria"/>
              </a:rPr>
              <a:t>hackathon</a:t>
            </a:r>
            <a:r>
              <a:rPr sz="4000" b="1" spc="-60" dirty="0">
                <a:latin typeface="Cambria"/>
                <a:cs typeface="Cambria"/>
              </a:rPr>
              <a:t> </a:t>
            </a:r>
            <a:r>
              <a:rPr lang="en-US" sz="4000" b="1" spc="-25" dirty="0">
                <a:solidFill>
                  <a:srgbClr val="F13662"/>
                </a:solidFill>
                <a:latin typeface="Arial MT"/>
                <a:cs typeface="Cambria"/>
              </a:rPr>
              <a:t>6.0</a:t>
            </a:r>
            <a:endParaRPr sz="4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90"/>
              </a:spcBef>
              <a:tabLst>
                <a:tab pos="5937885" algn="l"/>
              </a:tabLst>
            </a:pPr>
            <a:r>
              <a:rPr sz="2400" dirty="0">
                <a:latin typeface="Calibri"/>
                <a:cs typeface="Calibri"/>
              </a:rPr>
              <a:t>1.PRODUCT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SOLVE</a:t>
            </a:r>
            <a:r>
              <a:rPr sz="2400" dirty="0">
                <a:latin typeface="Calibri"/>
                <a:cs typeface="Calibri"/>
              </a:rPr>
              <a:t>	2.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35" dirty="0">
                <a:latin typeface="Calibri"/>
                <a:cs typeface="Calibri"/>
              </a:rPr>
              <a:t> TARGET </a:t>
            </a:r>
            <a:r>
              <a:rPr sz="2400" spc="-10" dirty="0">
                <a:latin typeface="Calibri"/>
                <a:cs typeface="Calibri"/>
              </a:rPr>
              <a:t>GROUP</a:t>
            </a:r>
            <a:r>
              <a:rPr lang="en-US" sz="2400" spc="-10" dirty="0">
                <a:latin typeface="Calibri"/>
                <a:cs typeface="Calibri"/>
              </a:rPr>
              <a:t> &amp; </a:t>
            </a:r>
            <a:r>
              <a:rPr lang="en-US" sz="2400" spc="-10" dirty="0">
                <a:latin typeface="Calibri"/>
                <a:cs typeface="Calibri"/>
                <a:hlinkClick r:id="rId2"/>
              </a:rPr>
              <a:t>SDGs 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28699" y="2476036"/>
            <a:ext cx="6354445" cy="406400"/>
            <a:chOff x="5728699" y="2476036"/>
            <a:chExt cx="6354445" cy="406400"/>
          </a:xfrm>
        </p:grpSpPr>
        <p:sp>
          <p:nvSpPr>
            <p:cNvPr id="18" name="object 18"/>
            <p:cNvSpPr/>
            <p:nvPr/>
          </p:nvSpPr>
          <p:spPr>
            <a:xfrm>
              <a:off x="5741399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41399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658550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658550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773949" y="3050150"/>
            <a:ext cx="8430895" cy="3041650"/>
            <a:chOff x="3773949" y="3050150"/>
            <a:chExt cx="8430895" cy="3041650"/>
          </a:xfrm>
        </p:grpSpPr>
        <p:sp>
          <p:nvSpPr>
            <p:cNvPr id="23" name="object 23"/>
            <p:cNvSpPr/>
            <p:nvPr/>
          </p:nvSpPr>
          <p:spPr>
            <a:xfrm>
              <a:off x="3786649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86649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9620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6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9620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60575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60575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99162" y="3062850"/>
              <a:ext cx="5893435" cy="2551430"/>
            </a:xfrm>
            <a:custGeom>
              <a:avLst/>
              <a:gdLst/>
              <a:ahLst/>
              <a:cxnLst/>
              <a:rect l="l" t="t" r="r" b="b"/>
              <a:pathLst>
                <a:path w="5893434" h="2551429">
                  <a:moveTo>
                    <a:pt x="0" y="0"/>
                  </a:moveTo>
                  <a:lnTo>
                    <a:pt x="5892899" y="0"/>
                  </a:lnTo>
                  <a:lnTo>
                    <a:pt x="5892899" y="2550899"/>
                  </a:lnTo>
                  <a:lnTo>
                    <a:pt x="0" y="25508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70724" y="6259924"/>
            <a:ext cx="3896995" cy="3157275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85725" algn="just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5</a:t>
            </a:r>
            <a:r>
              <a:rPr sz="20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elements</a:t>
            </a:r>
            <a:endParaRPr lang="ro-RO" sz="2000" spc="-1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85725" algn="just">
              <a:lnSpc>
                <a:spcPct val="100000"/>
              </a:lnSpc>
              <a:spcBef>
                <a:spcPts val="220"/>
              </a:spcBef>
            </a:pPr>
            <a:r>
              <a:rPr lang="ro-RO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Specific: </a:t>
            </a:r>
            <a:r>
              <a:rPr lang="en-US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focuses on matching deaf people with volunteer interpreters</a:t>
            </a:r>
            <a:br>
              <a:rPr lang="ro-RO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</a:br>
            <a:r>
              <a:rPr lang="ro-RO" sz="2000" spc="-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Mesurable</a:t>
            </a:r>
            <a:r>
              <a:rPr lang="ro-RO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: </a:t>
            </a:r>
            <a:r>
              <a:rPr lang="en-US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100 successful matches/ 350 active users</a:t>
            </a:r>
            <a:endParaRPr lang="ro-RO" sz="2000" spc="-1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85725" algn="just">
              <a:lnSpc>
                <a:spcPct val="100000"/>
              </a:lnSpc>
              <a:spcBef>
                <a:spcPts val="220"/>
              </a:spcBef>
            </a:pPr>
            <a:r>
              <a:rPr lang="ro-RO" sz="2000" spc="-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Achievable</a:t>
            </a:r>
            <a:r>
              <a:rPr lang="ro-RO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: </a:t>
            </a:r>
            <a:r>
              <a:rPr lang="en-US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 realistic stretch goal, helping to engage the community</a:t>
            </a:r>
            <a:br>
              <a:rPr lang="ro-RO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</a:br>
            <a:r>
              <a:rPr lang="ro-RO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Relevant: </a:t>
            </a:r>
            <a:r>
              <a:rPr lang="en-US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encouraging interaction and assuring growth for everyone</a:t>
            </a:r>
            <a:br>
              <a:rPr lang="ro-RO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</a:br>
            <a:r>
              <a:rPr lang="ro-RO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Time-</a:t>
            </a:r>
            <a:r>
              <a:rPr lang="ro-RO" sz="2000" spc="-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bound</a:t>
            </a:r>
            <a:r>
              <a:rPr lang="ro-RO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: </a:t>
            </a:r>
            <a:r>
              <a:rPr lang="en-US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4 months</a:t>
            </a:r>
            <a:endParaRPr lang="ro-RO" sz="2000" spc="-1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353BC0F-103F-CFD8-CE07-894AF8A9E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275" y="284926"/>
            <a:ext cx="5857240" cy="1107996"/>
          </a:xfrm>
          <a:ln w="19050"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r>
              <a:rPr lang="pt-BR" dirty="0"/>
              <a:t>PROJECT</a:t>
            </a:r>
            <a:r>
              <a:rPr lang="pt-BR" spc="-135" dirty="0"/>
              <a:t> </a:t>
            </a:r>
            <a:r>
              <a:rPr lang="pt-BR" spc="-10" dirty="0"/>
              <a:t>NAME: </a:t>
            </a:r>
            <a:br>
              <a:rPr lang="ro-RO" spc="-10" dirty="0"/>
            </a:br>
            <a:r>
              <a:rPr lang="pt-BR" dirty="0"/>
              <a:t>TEAM</a:t>
            </a:r>
            <a:r>
              <a:rPr lang="pt-BR" spc="-65" dirty="0"/>
              <a:t> </a:t>
            </a:r>
            <a:r>
              <a:rPr lang="pt-BR" spc="-10" dirty="0"/>
              <a:t>MEMBERS: Ilinca Ana-Maria, Ionescu Ioan Rareș, Luca Ana Loredana, Popa Ana</a:t>
            </a:r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EEFC3E-C96F-3E6F-8025-E1C259BA3BA1}"/>
              </a:ext>
            </a:extLst>
          </p:cNvPr>
          <p:cNvSpPr txBox="1"/>
          <p:nvPr/>
        </p:nvSpPr>
        <p:spPr>
          <a:xfrm>
            <a:off x="452858" y="3124200"/>
            <a:ext cx="58138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o-RO" dirty="0"/>
              <a:t>In Romania, </a:t>
            </a:r>
            <a:r>
              <a:rPr lang="ro-RO" dirty="0" err="1"/>
              <a:t>there</a:t>
            </a:r>
            <a:r>
              <a:rPr lang="ro-RO" dirty="0"/>
              <a:t> </a:t>
            </a:r>
            <a:r>
              <a:rPr lang="ro-RO" dirty="0" err="1"/>
              <a:t>is</a:t>
            </a:r>
            <a:r>
              <a:rPr lang="ro-RO" dirty="0"/>
              <a:t> </a:t>
            </a:r>
            <a:r>
              <a:rPr lang="ro-RO" dirty="0" err="1"/>
              <a:t>one</a:t>
            </a:r>
            <a:r>
              <a:rPr lang="ro-RO" dirty="0"/>
              <a:t> interpret for </a:t>
            </a:r>
            <a:r>
              <a:rPr lang="ro-RO" dirty="0" err="1"/>
              <a:t>every</a:t>
            </a:r>
            <a:r>
              <a:rPr lang="ro-RO" dirty="0"/>
              <a:t> 300 </a:t>
            </a:r>
            <a:r>
              <a:rPr lang="ro-RO" dirty="0" err="1"/>
              <a:t>people</a:t>
            </a:r>
            <a:r>
              <a:rPr lang="ro-RO" dirty="0"/>
              <a:t>.</a:t>
            </a:r>
          </a:p>
          <a:p>
            <a:pPr algn="just"/>
            <a:r>
              <a:rPr lang="en-US" dirty="0"/>
              <a:t>Everyone in the deaf community uses</a:t>
            </a:r>
            <a:r>
              <a:rPr lang="ro-RO" dirty="0"/>
              <a:t> sign language to communicate easily, yet not all of them manage to find a translator when needed</a:t>
            </a:r>
            <a:r>
              <a:rPr lang="en-US" dirty="0"/>
              <a:t> since there are not so many </a:t>
            </a:r>
            <a:r>
              <a:rPr lang="en-US" dirty="0" err="1"/>
              <a:t>inteprets</a:t>
            </a:r>
            <a:r>
              <a:rPr lang="en-US" dirty="0"/>
              <a:t>, and even less volunteers.</a:t>
            </a:r>
            <a:r>
              <a:rPr lang="ro-RO" dirty="0"/>
              <a:t> </a:t>
            </a:r>
            <a:r>
              <a:rPr lang="ro-RO" dirty="0" err="1"/>
              <a:t>Moreover</a:t>
            </a:r>
            <a:r>
              <a:rPr lang="en-US" dirty="0"/>
              <a:t>, not everyone manages to find “people like them” because they don’t know where to search and start from.</a:t>
            </a:r>
            <a:endParaRPr lang="ro-RO" dirty="0"/>
          </a:p>
          <a:p>
            <a:pPr algn="just"/>
            <a:endParaRPr lang="ro-RO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07135E-8575-91DA-78A8-118BD191A6D1}"/>
              </a:ext>
            </a:extLst>
          </p:cNvPr>
          <p:cNvSpPr txBox="1"/>
          <p:nvPr/>
        </p:nvSpPr>
        <p:spPr>
          <a:xfrm>
            <a:off x="6317024" y="3124200"/>
            <a:ext cx="58094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o-RO" dirty="0"/>
              <a:t>- Target </a:t>
            </a:r>
            <a:r>
              <a:rPr lang="ro-RO" dirty="0" err="1"/>
              <a:t>group</a:t>
            </a:r>
            <a:r>
              <a:rPr lang="ro-RO" dirty="0"/>
              <a:t>: </a:t>
            </a:r>
            <a:r>
              <a:rPr lang="ro-RO" dirty="0" err="1"/>
              <a:t>deaf</a:t>
            </a:r>
            <a:r>
              <a:rPr lang="ro-RO" dirty="0"/>
              <a:t> </a:t>
            </a:r>
            <a:r>
              <a:rPr lang="ro-RO" dirty="0" err="1"/>
              <a:t>people</a:t>
            </a:r>
            <a:r>
              <a:rPr lang="ro-RO" dirty="0"/>
              <a:t> </a:t>
            </a:r>
            <a:r>
              <a:rPr lang="ro-RO" dirty="0" err="1"/>
              <a:t>who</a:t>
            </a:r>
            <a:r>
              <a:rPr lang="ro-RO" dirty="0"/>
              <a:t> </a:t>
            </a:r>
            <a:r>
              <a:rPr lang="ro-RO" dirty="0" err="1"/>
              <a:t>use</a:t>
            </a:r>
            <a:r>
              <a:rPr lang="ro-RO" dirty="0"/>
              <a:t> </a:t>
            </a:r>
            <a:r>
              <a:rPr lang="ro-RO" dirty="0" err="1"/>
              <a:t>sign</a:t>
            </a:r>
            <a:r>
              <a:rPr lang="ro-RO" dirty="0"/>
              <a:t> </a:t>
            </a:r>
            <a:r>
              <a:rPr lang="ro-RO" dirty="0" err="1"/>
              <a:t>language</a:t>
            </a:r>
            <a:r>
              <a:rPr lang="ro-RO" dirty="0"/>
              <a:t>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communicate</a:t>
            </a:r>
            <a:r>
              <a:rPr lang="ro-RO" dirty="0"/>
              <a:t>, </a:t>
            </a:r>
            <a:r>
              <a:rPr lang="ro-RO" dirty="0" err="1"/>
              <a:t>interpreters</a:t>
            </a:r>
            <a:r>
              <a:rPr lang="ro-RO" dirty="0"/>
              <a:t>, </a:t>
            </a:r>
            <a:r>
              <a:rPr lang="ro-RO" dirty="0" err="1"/>
              <a:t>people</a:t>
            </a:r>
            <a:r>
              <a:rPr lang="ro-RO" dirty="0"/>
              <a:t> </a:t>
            </a:r>
            <a:r>
              <a:rPr lang="ro-RO" dirty="0" err="1"/>
              <a:t>who</a:t>
            </a:r>
            <a:r>
              <a:rPr lang="ro-RO" dirty="0"/>
              <a:t> are </a:t>
            </a:r>
            <a:r>
              <a:rPr lang="ro-RO" dirty="0" err="1"/>
              <a:t>searching</a:t>
            </a:r>
            <a:r>
              <a:rPr lang="ro-RO" dirty="0"/>
              <a:t>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learn</a:t>
            </a:r>
            <a:r>
              <a:rPr lang="ro-RO" dirty="0"/>
              <a:t> </a:t>
            </a:r>
            <a:r>
              <a:rPr lang="ro-RO" dirty="0" err="1"/>
              <a:t>sign</a:t>
            </a:r>
            <a:r>
              <a:rPr lang="ro-RO" dirty="0"/>
              <a:t> </a:t>
            </a:r>
            <a:r>
              <a:rPr lang="ro-RO" dirty="0" err="1"/>
              <a:t>language</a:t>
            </a:r>
            <a:r>
              <a:rPr lang="ro-RO" dirty="0"/>
              <a:t>.</a:t>
            </a:r>
          </a:p>
          <a:p>
            <a:pPr algn="just"/>
            <a:r>
              <a:rPr lang="ro-RO" dirty="0"/>
              <a:t>- As </a:t>
            </a:r>
            <a:r>
              <a:rPr lang="ro-RO" dirty="0" err="1"/>
              <a:t>there</a:t>
            </a:r>
            <a:r>
              <a:rPr lang="ro-RO" dirty="0"/>
              <a:t> are multiple </a:t>
            </a:r>
            <a:r>
              <a:rPr lang="ro-RO" dirty="0" err="1"/>
              <a:t>types</a:t>
            </a:r>
            <a:r>
              <a:rPr lang="ro-RO" dirty="0"/>
              <a:t> of </a:t>
            </a:r>
            <a:r>
              <a:rPr lang="ro-RO" dirty="0" err="1"/>
              <a:t>sign</a:t>
            </a:r>
            <a:r>
              <a:rPr lang="ro-RO" dirty="0"/>
              <a:t> </a:t>
            </a:r>
            <a:r>
              <a:rPr lang="ro-RO" dirty="0" err="1"/>
              <a:t>languages</a:t>
            </a:r>
            <a:r>
              <a:rPr lang="ro-RO" dirty="0"/>
              <a:t>, </a:t>
            </a:r>
            <a:r>
              <a:rPr lang="ro-RO" dirty="0" err="1"/>
              <a:t>and</a:t>
            </a:r>
            <a:r>
              <a:rPr lang="ro-RO" dirty="0"/>
              <a:t> </a:t>
            </a:r>
            <a:r>
              <a:rPr lang="ro-RO" dirty="0" err="1"/>
              <a:t>our</a:t>
            </a:r>
            <a:r>
              <a:rPr lang="ro-RO" dirty="0"/>
              <a:t> MVP </a:t>
            </a:r>
            <a:r>
              <a:rPr lang="ro-RO" dirty="0" err="1"/>
              <a:t>focuses</a:t>
            </a:r>
            <a:r>
              <a:rPr lang="ro-RO" dirty="0"/>
              <a:t> on </a:t>
            </a:r>
            <a:r>
              <a:rPr lang="ro-RO" dirty="0" err="1"/>
              <a:t>the</a:t>
            </a:r>
            <a:r>
              <a:rPr lang="ro-RO" dirty="0"/>
              <a:t> </a:t>
            </a:r>
            <a:r>
              <a:rPr lang="ro-RO" dirty="0" err="1"/>
              <a:t>romanian</a:t>
            </a:r>
            <a:r>
              <a:rPr lang="ro-RO" dirty="0"/>
              <a:t> </a:t>
            </a:r>
            <a:r>
              <a:rPr lang="ro-RO" dirty="0" err="1"/>
              <a:t>one</a:t>
            </a:r>
            <a:r>
              <a:rPr lang="ro-RO" dirty="0"/>
              <a:t>, </a:t>
            </a:r>
            <a:r>
              <a:rPr lang="ro-RO" dirty="0" err="1"/>
              <a:t>the</a:t>
            </a:r>
            <a:r>
              <a:rPr lang="ro-RO" dirty="0"/>
              <a:t> </a:t>
            </a:r>
            <a:r>
              <a:rPr lang="ro-RO" dirty="0" err="1"/>
              <a:t>current</a:t>
            </a:r>
            <a:r>
              <a:rPr lang="ro-RO" dirty="0"/>
              <a:t> </a:t>
            </a:r>
            <a:r>
              <a:rPr lang="ro-RO" dirty="0" err="1"/>
              <a:t>version</a:t>
            </a:r>
            <a:r>
              <a:rPr lang="ro-RO" dirty="0"/>
              <a:t> of </a:t>
            </a:r>
            <a:r>
              <a:rPr lang="ro-RO" dirty="0" err="1"/>
              <a:t>the</a:t>
            </a:r>
            <a:r>
              <a:rPr lang="ro-RO" dirty="0"/>
              <a:t> </a:t>
            </a:r>
            <a:r>
              <a:rPr lang="ro-RO" dirty="0" err="1"/>
              <a:t>app</a:t>
            </a:r>
            <a:r>
              <a:rPr lang="ro-RO" dirty="0"/>
              <a:t> </a:t>
            </a:r>
            <a:r>
              <a:rPr lang="ro-RO" dirty="0" err="1"/>
              <a:t>is</a:t>
            </a:r>
            <a:r>
              <a:rPr lang="ro-RO" dirty="0"/>
              <a:t> </a:t>
            </a:r>
            <a:r>
              <a:rPr lang="ro-RO" dirty="0" err="1"/>
              <a:t>destined</a:t>
            </a:r>
            <a:r>
              <a:rPr lang="ro-RO" dirty="0"/>
              <a:t>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romanian</a:t>
            </a:r>
            <a:r>
              <a:rPr lang="ro-RO" dirty="0"/>
              <a:t> </a:t>
            </a:r>
            <a:r>
              <a:rPr lang="ro-RO" dirty="0" err="1"/>
              <a:t>users</a:t>
            </a:r>
            <a:r>
              <a:rPr lang="ro-RO" dirty="0"/>
              <a:t>.</a:t>
            </a:r>
          </a:p>
          <a:p>
            <a:pPr algn="just"/>
            <a:r>
              <a:rPr lang="ro-RO" dirty="0"/>
              <a:t>- </a:t>
            </a:r>
            <a:r>
              <a:rPr lang="ro-RO" dirty="0" err="1"/>
              <a:t>SDGs</a:t>
            </a:r>
            <a:r>
              <a:rPr lang="ro-RO" dirty="0"/>
              <a:t>: </a:t>
            </a:r>
            <a:r>
              <a:rPr lang="ro-RO" dirty="0" err="1"/>
              <a:t>reduced</a:t>
            </a:r>
            <a:r>
              <a:rPr lang="ro-RO" dirty="0"/>
              <a:t> </a:t>
            </a:r>
            <a:r>
              <a:rPr lang="ro-RO" dirty="0" err="1"/>
              <a:t>inequalities</a:t>
            </a:r>
            <a:r>
              <a:rPr lang="ro-RO" dirty="0"/>
              <a:t>, quality </a:t>
            </a:r>
            <a:r>
              <a:rPr lang="ro-RO" dirty="0" err="1"/>
              <a:t>education</a:t>
            </a:r>
            <a:r>
              <a:rPr lang="ro-RO" dirty="0"/>
              <a:t>.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</TotalTime>
  <Words>300</Words>
  <Application>Microsoft Office PowerPoint</Application>
  <PresentationFormat>A3 Paper (297x420 mm)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 MT</vt:lpstr>
      <vt:lpstr>Calibri</vt:lpstr>
      <vt:lpstr>Cambria</vt:lpstr>
      <vt:lpstr>Office Theme</vt:lpstr>
      <vt:lpstr>PROJECT NAME:  TEAM MEMBERS: Ilinca Ana-Maria, Ionescu Ioan Rareș, Luca Ana Loredana, Popa Ana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V.I.S.Canvas.pptx</dc:title>
  <dc:creator>Cornel Ilinca</dc:creator>
  <cp:lastModifiedBy>Cornel Ilinca</cp:lastModifiedBy>
  <cp:revision>9</cp:revision>
  <dcterms:created xsi:type="dcterms:W3CDTF">2025-02-07T13:41:18Z</dcterms:created>
  <dcterms:modified xsi:type="dcterms:W3CDTF">2026-05-01T19:26:55Z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2025-02-07T00:00:00Z</vt:filetime>
  </property>
  <property fmtid="{D5CDD505-2E9C-101B-9397-08002B2CF9AE}" pid="3" name="Creator">
    <vt:lpwstr>Google</vt:lpwstr>
  </property>
  <property fmtid="{D5CDD505-2E9C-101B-9397-08002B2CF9AE}" pid="4" name="LastSaved">
    <vt:filetime>2025-02-07T00:00:00Z</vt:filetime>
  </property>
</Properties>
</file>